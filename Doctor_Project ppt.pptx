
<file path=[Content_Types].xml><?xml version="1.0" encoding="utf-8"?>
<Types xmlns="http://schemas.openxmlformats.org/package/2006/content-types">
  <Default Extension="png" ContentType="image/png"/>
  <Default Extension="glb" ContentType="model/gltf.binary"/>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9"/>
  </p:notesMasterIdLst>
  <p:sldIdLst>
    <p:sldId id="256" r:id="rId5"/>
    <p:sldId id="268" r:id="rId6"/>
    <p:sldId id="269" r:id="rId7"/>
    <p:sldId id="270" r:id="rId8"/>
    <p:sldId id="271" r:id="rId9"/>
    <p:sldId id="272" r:id="rId10"/>
    <p:sldId id="273" r:id="rId11"/>
    <p:sldId id="274" r:id="rId12"/>
    <p:sldId id="275" r:id="rId13"/>
    <p:sldId id="276" r:id="rId14"/>
    <p:sldId id="257" r:id="rId15"/>
    <p:sldId id="258" r:id="rId16"/>
    <p:sldId id="259" r:id="rId17"/>
    <p:sldId id="277" r:id="rId18"/>
    <p:sldId id="278" r:id="rId19"/>
    <p:sldId id="260" r:id="rId20"/>
    <p:sldId id="261" r:id="rId21"/>
    <p:sldId id="262" r:id="rId22"/>
    <p:sldId id="263" r:id="rId23"/>
    <p:sldId id="264" r:id="rId24"/>
    <p:sldId id="265" r:id="rId25"/>
    <p:sldId id="266" r:id="rId26"/>
    <p:sldId id="279"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68"/>
            <p14:sldId id="269"/>
            <p14:sldId id="270"/>
            <p14:sldId id="271"/>
            <p14:sldId id="272"/>
            <p14:sldId id="273"/>
            <p14:sldId id="274"/>
            <p14:sldId id="275"/>
            <p14:sldId id="276"/>
            <p14:sldId id="257"/>
          </p14:sldIdLst>
        </p14:section>
        <p14:section name="Sequence of Patients" id="{A08F0015-E7F5-4E26-BBAF-AEE4F9A16AD2}">
          <p14:sldIdLst>
            <p14:sldId id="258"/>
          </p14:sldIdLst>
        </p14:section>
        <p14:section name="Digram Management" id="{B62868DA-F525-4AC5-9E3E-39ECA0154BBD}">
          <p14:sldIdLst>
            <p14:sldId id="259"/>
            <p14:sldId id="277"/>
            <p14:sldId id="278"/>
          </p14:sldIdLst>
        </p14:section>
        <p14:section name="System Flow" id="{62756D7E-964E-493A-83A1-13BC0B6B5E47}">
          <p14:sldIdLst>
            <p14:sldId id="260"/>
            <p14:sldId id="261"/>
            <p14:sldId id="262"/>
            <p14:sldId id="263"/>
            <p14:sldId id="264"/>
            <p14:sldId id="265"/>
            <p14:sldId id="266"/>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98"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5/12/2024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5/12/2024</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7/06/relationships/model3d" Target="../media/model3d1.glb"/><Relationship Id="rId1" Type="http://schemas.openxmlformats.org/officeDocument/2006/relationships/slideLayout" Target="../slideLayouts/slideLayout6.xml"/><Relationship Id="rId5" Type="http://schemas.openxmlformats.org/officeDocument/2006/relationships/image" Target="../media/image5.png"/><Relationship Id="rId4" Type="http://schemas.microsoft.com/office/2017/06/relationships/model3d" Target="../media/model3d2.glb"/></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Doctor Appointment System</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This system allows Patients to book &amp; get consultations with the doctors </a:t>
            </a:r>
          </a:p>
        </p:txBody>
      </p:sp>
      <p:sp>
        <p:nvSpPr>
          <p:cNvPr id="5" name="Title 1">
            <a:extLst>
              <a:ext uri="{FF2B5EF4-FFF2-40B4-BE49-F238E27FC236}">
                <a16:creationId xmlns:a16="http://schemas.microsoft.com/office/drawing/2014/main" id="{566FA85D-3B0A-4E0C-B8AC-042993910A93}"/>
              </a:ext>
            </a:extLst>
          </p:cNvPr>
          <p:cNvSpPr txBox="1">
            <a:spLocks/>
          </p:cNvSpPr>
          <p:nvPr/>
        </p:nvSpPr>
        <p:spPr>
          <a:xfrm>
            <a:off x="8077762" y="5004649"/>
            <a:ext cx="2447364" cy="495232"/>
          </a:xfrm>
          <a:prstGeom prst="rect">
            <a:avLst/>
          </a:prstGeom>
        </p:spPr>
        <p:txBody>
          <a:bodyPr anchor="t">
            <a:normAutofit/>
          </a:bodyPr>
          <a:lstStyle>
            <a:lvl1pPr algn="l" defTabSz="914400" rtl="0" eaLnBrk="1" latinLnBrk="0" hangingPunct="1">
              <a:lnSpc>
                <a:spcPct val="90000"/>
              </a:lnSpc>
              <a:spcBef>
                <a:spcPct val="0"/>
              </a:spcBef>
              <a:buNone/>
              <a:defRPr sz="2600" kern="1200">
                <a:solidFill>
                  <a:srgbClr val="408E93"/>
                </a:solidFill>
                <a:latin typeface="Agency FB" panose="020B0503020202020204" pitchFamily="34" charset="0"/>
                <a:ea typeface="+mj-ea"/>
                <a:cs typeface="Segoe UI Light" panose="020B0502040204020203" pitchFamily="34" charset="0"/>
              </a:defRPr>
            </a:lvl1pPr>
          </a:lstStyle>
          <a:p>
            <a:pPr>
              <a:spcBef>
                <a:spcPts val="1000"/>
              </a:spcBef>
            </a:pPr>
            <a:r>
              <a:rPr lang="en-US" sz="1800" dirty="0">
                <a:solidFill>
                  <a:schemeClr val="bg1"/>
                </a:solidFill>
                <a:latin typeface="+mj-lt"/>
                <a:ea typeface="+mn-ea"/>
                <a:cs typeface="+mn-cs"/>
              </a:rPr>
              <a:t>Made by:-</a:t>
            </a: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8077762" y="5254506"/>
            <a:ext cx="3760738" cy="102056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u="sng" dirty="0">
                <a:latin typeface="Times New Roman" panose="02020603050405020304" pitchFamily="18" charset="0"/>
                <a:cs typeface="Times New Roman" panose="02020603050405020304" pitchFamily="18" charset="0"/>
              </a:rPr>
              <a:t>Sudarshan Sinha(2305103140031)</a:t>
            </a:r>
          </a:p>
          <a:p>
            <a:r>
              <a:rPr lang="en-US" sz="1400" u="sng" dirty="0">
                <a:latin typeface="Times New Roman" panose="02020603050405020304" pitchFamily="18" charset="0"/>
                <a:cs typeface="Times New Roman" panose="02020603050405020304" pitchFamily="18" charset="0"/>
              </a:rPr>
              <a:t>Krishna Shankar(2305103140018)</a:t>
            </a:r>
          </a:p>
          <a:p>
            <a:r>
              <a:rPr lang="en-US" sz="1400" u="sng" dirty="0" err="1">
                <a:latin typeface="Times New Roman" panose="02020603050405020304" pitchFamily="18" charset="0"/>
                <a:cs typeface="Times New Roman" panose="02020603050405020304" pitchFamily="18" charset="0"/>
              </a:rPr>
              <a:t>Suparna</a:t>
            </a:r>
            <a:r>
              <a:rPr lang="en-US" sz="1400" u="sng" dirty="0">
                <a:latin typeface="Times New Roman" panose="02020603050405020304" pitchFamily="18" charset="0"/>
                <a:cs typeface="Times New Roman" panose="02020603050405020304" pitchFamily="18" charset="0"/>
              </a:rPr>
              <a:t> Das(2305103140032)</a:t>
            </a:r>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8A4B84-DF06-4E93-BC51-D9001454E8FC}"/>
              </a:ext>
            </a:extLst>
          </p:cNvPr>
          <p:cNvSpPr>
            <a:spLocks noGrp="1"/>
          </p:cNvSpPr>
          <p:nvPr>
            <p:ph idx="1"/>
          </p:nvPr>
        </p:nvSpPr>
        <p:spPr>
          <a:xfrm>
            <a:off x="604433" y="1317812"/>
            <a:ext cx="10983131" cy="4859151"/>
          </a:xfrm>
        </p:spPr>
        <p:txBody>
          <a:bodyPr>
            <a:normAutofit/>
          </a:bodyPr>
          <a:lstStyle/>
          <a:p>
            <a:pPr>
              <a:lnSpc>
                <a:spcPct val="200000"/>
              </a:lnSpc>
            </a:pPr>
            <a:r>
              <a:rPr lang="en-US" sz="1400" dirty="0">
                <a:latin typeface="Times New Roman" panose="02020603050405020304" pitchFamily="18" charset="0"/>
                <a:cs typeface="Times New Roman" panose="02020603050405020304" pitchFamily="18" charset="0"/>
              </a:rPr>
              <a:t>The Doctor Appointment Management System is an online platform designed to simplify the process of scheduling and managing appointments between doctors and patients. This system provides a user-friendly interface that enables patients to search for and book appointments with doctors based on specialty, and availability. The system also allows doctors to manage their schedules and availability, review patient information, and accept or reject appointment requests. </a:t>
            </a:r>
          </a:p>
          <a:p>
            <a:pPr>
              <a:lnSpc>
                <a:spcPct val="200000"/>
              </a:lnSpc>
            </a:pPr>
            <a:r>
              <a:rPr lang="en-US" sz="1400" dirty="0">
                <a:latin typeface="Times New Roman" panose="02020603050405020304" pitchFamily="18" charset="0"/>
                <a:cs typeface="Times New Roman" panose="02020603050405020304" pitchFamily="18" charset="0"/>
              </a:rPr>
              <a:t>Overall, the Doctor Appointment Management System is designed to improve access to healthcare services and simplify the appointment scheduling process for both patients and doctors. By providing an easy-to-use platform, this system can help increase patient satisfaction and improve the efficiency of healthcare services.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DED0FD9-8DF4-4F58-A02D-D609853CF624}"/>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557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37786B-C03A-4237-B269-1772DF4EE071}"/>
              </a:ext>
            </a:extLst>
          </p:cNvPr>
          <p:cNvSpPr>
            <a:spLocks noGrp="1"/>
          </p:cNvSpPr>
          <p:nvPr>
            <p:ph idx="1"/>
          </p:nvPr>
        </p:nvSpPr>
        <p:spPr/>
        <p:txBody>
          <a:bodyPr>
            <a:normAutofit/>
          </a:bodyPr>
          <a:lstStyle/>
          <a:p>
            <a:pPr>
              <a:buNone/>
            </a:pPr>
            <a:r>
              <a:rPr lang="en-US" sz="1400" dirty="0">
                <a:latin typeface="Times New Roman" panose="02020603050405020304" pitchFamily="18" charset="0"/>
                <a:cs typeface="Times New Roman" panose="02020603050405020304" pitchFamily="18" charset="0"/>
              </a:rPr>
              <a:t>Explanation of the requirement gathering and analysis process. Importance of understanding stakeholders' needs and expectations.</a:t>
            </a:r>
          </a:p>
          <a:p>
            <a:pPr>
              <a:buNone/>
            </a:pPr>
            <a:r>
              <a:rPr lang="en-US" sz="1400" b="1" dirty="0">
                <a:latin typeface="Times New Roman" panose="02020603050405020304" pitchFamily="18" charset="0"/>
                <a:cs typeface="Times New Roman" panose="02020603050405020304" pitchFamily="18" charset="0"/>
              </a:rPr>
              <a:t>Identifying Stakeholders: </a:t>
            </a:r>
            <a:r>
              <a:rPr lang="en-US" sz="1400" dirty="0">
                <a:latin typeface="Times New Roman" panose="02020603050405020304" pitchFamily="18" charset="0"/>
                <a:cs typeface="Times New Roman" panose="02020603050405020304" pitchFamily="18" charset="0"/>
              </a:rPr>
              <a:t>List of stakeholders including doctors, medical staff, administrative personnel, and patients. Description of their roles, responsibilities, and expectations.</a:t>
            </a:r>
          </a:p>
          <a:p>
            <a:pPr>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Eliciting Requirements: </a:t>
            </a:r>
            <a:r>
              <a:rPr lang="en-US" sz="1400" dirty="0">
                <a:latin typeface="Times New Roman" panose="02020603050405020304" pitchFamily="18" charset="0"/>
                <a:cs typeface="Times New Roman" panose="02020603050405020304" pitchFamily="18" charset="0"/>
              </a:rPr>
              <a:t>Techniques used such as interviews, surveys, and focus groups. Key features identified including appointment scheduling, patient registration, and notifications.</a:t>
            </a:r>
          </a:p>
          <a:p>
            <a:r>
              <a:rPr lang="en-US" sz="1400" b="1" dirty="0">
                <a:latin typeface="Times New Roman" panose="02020603050405020304" pitchFamily="18" charset="0"/>
                <a:cs typeface="Times New Roman" panose="02020603050405020304" pitchFamily="18" charset="0"/>
              </a:rPr>
              <a:t>Analyzing Requirements: </a:t>
            </a:r>
            <a:r>
              <a:rPr lang="en-US" sz="1400" dirty="0">
                <a:latin typeface="Times New Roman" panose="02020603050405020304" pitchFamily="18" charset="0"/>
                <a:cs typeface="Times New Roman" panose="02020603050405020304" pitchFamily="18" charset="0"/>
              </a:rPr>
              <a:t>Organization and prioritization of requirements based on importance and feasibility. Ensuring clarity, conciseness, and unambiguity of requirements.</a:t>
            </a:r>
          </a:p>
          <a:p>
            <a:r>
              <a:rPr lang="en-US" sz="1400" b="1" dirty="0">
                <a:latin typeface="Times New Roman" panose="02020603050405020304" pitchFamily="18" charset="0"/>
                <a:cs typeface="Times New Roman" panose="02020603050405020304" pitchFamily="18" charset="0"/>
              </a:rPr>
              <a:t>Documenting Requirements: </a:t>
            </a:r>
            <a:r>
              <a:rPr lang="en-US" sz="1400" dirty="0">
                <a:latin typeface="Times New Roman" panose="02020603050405020304" pitchFamily="18" charset="0"/>
                <a:cs typeface="Times New Roman" panose="02020603050405020304" pitchFamily="18" charset="0"/>
              </a:rPr>
              <a:t>Creation of a detailed requirements specification document. Use of use cases, user stories, and wireframes to illustrate system functionality.</a:t>
            </a:r>
          </a:p>
          <a:p>
            <a:r>
              <a:rPr lang="en-US" sz="1400" b="1" dirty="0">
                <a:latin typeface="Times New Roman" panose="02020603050405020304" pitchFamily="18" charset="0"/>
                <a:cs typeface="Times New Roman" panose="02020603050405020304" pitchFamily="18" charset="0"/>
              </a:rPr>
              <a:t>Reviewing and Validating Requirements: </a:t>
            </a:r>
            <a:r>
              <a:rPr lang="en-US" sz="1400" dirty="0">
                <a:latin typeface="Times New Roman" panose="02020603050405020304" pitchFamily="18" charset="0"/>
                <a:cs typeface="Times New Roman" panose="02020603050405020304" pitchFamily="18" charset="0"/>
              </a:rPr>
              <a:t>Stakeholder review and validation process to ensure accuracy and completeness. Incorporation of feedback and confirmation of stakeholder satisfaction.</a:t>
            </a:r>
          </a:p>
          <a:p>
            <a:pPr>
              <a:buNone/>
            </a:pPr>
            <a:r>
              <a:rPr lang="en-US" sz="1400" b="1" dirty="0">
                <a:latin typeface="Times New Roman" panose="02020603050405020304" pitchFamily="18" charset="0"/>
                <a:cs typeface="Times New Roman" panose="02020603050405020304" pitchFamily="18" charset="0"/>
              </a:rPr>
              <a:t>Managing Requirements Changes: </a:t>
            </a:r>
            <a:r>
              <a:rPr lang="en-US" sz="1400" dirty="0">
                <a:latin typeface="Times New Roman" panose="02020603050405020304" pitchFamily="18" charset="0"/>
                <a:cs typeface="Times New Roman" panose="02020603050405020304" pitchFamily="18" charset="0"/>
              </a:rPr>
              <a:t>Establishment of a process for managing changes throughout the project lifecycle. Implementation of a system for tracking and documenting changes. By presenting a comprehensive feasibility study and requirement gathering &amp; analysis plan, stakeholders will gain a clear understanding of the project's potential success and how their needs will be addressed.</a:t>
            </a:r>
            <a:endParaRPr lang="en-IN" sz="14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E38ACBC4-3FB5-492A-A66B-D5C83A49948F}"/>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Requirement Gathering and analysis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64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78BD60F-0F80-4ABF-8E19-030C0401A7B2}"/>
              </a:ext>
            </a:extLst>
          </p:cNvPr>
          <p:cNvSpPr>
            <a:spLocks noGrp="1"/>
          </p:cNvSpPr>
          <p:nvPr>
            <p:ph idx="1"/>
          </p:nvPr>
        </p:nvSpPr>
        <p:spPr>
          <a:xfrm>
            <a:off x="604433" y="1196391"/>
            <a:ext cx="10983131" cy="5212981"/>
          </a:xfrm>
        </p:spPr>
        <p:txBody>
          <a:bodyPr>
            <a:normAutofit/>
          </a:bodyPr>
          <a:lstStyle/>
          <a:p>
            <a:pPr>
              <a:buNone/>
            </a:pPr>
            <a:r>
              <a:rPr lang="en-US" sz="1600" b="1" dirty="0">
                <a:latin typeface="Times New Roman" panose="02020603050405020304" pitchFamily="18" charset="0"/>
                <a:cs typeface="Times New Roman" panose="02020603050405020304" pitchFamily="18" charset="0"/>
              </a:rPr>
              <a:t>Efficiency: </a:t>
            </a:r>
            <a:r>
              <a:rPr lang="en-US" sz="1600" dirty="0">
                <a:latin typeface="Times New Roman" panose="02020603050405020304" pitchFamily="18" charset="0"/>
                <a:cs typeface="Times New Roman" panose="02020603050405020304" pitchFamily="18" charset="0"/>
              </a:rPr>
              <a:t>Streamlines the appointment scheduling process, reducing wait times for patients and optimizing the utilization of doctor's time. Allows patients to book appointments at their convenience, without the need for phone calls or in-person visits.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Improved Access to Care: </a:t>
            </a:r>
            <a:r>
              <a:rPr lang="en-US" sz="1600" dirty="0">
                <a:latin typeface="Times New Roman" panose="02020603050405020304" pitchFamily="18" charset="0"/>
                <a:cs typeface="Times New Roman" panose="02020603050405020304" pitchFamily="18" charset="0"/>
              </a:rPr>
              <a:t>Enables patients to access healthcare services more easily, particularly for non-urgent appointments. Increases flexibility by offering online booking options outside of traditional office hours.</a:t>
            </a:r>
          </a:p>
          <a:p>
            <a:r>
              <a:rPr lang="en-US" sz="1600" b="1" dirty="0">
                <a:latin typeface="Times New Roman" panose="02020603050405020304" pitchFamily="18" charset="0"/>
                <a:cs typeface="Times New Roman" panose="02020603050405020304" pitchFamily="18" charset="0"/>
              </a:rPr>
              <a:t> Reduced Administrative Burden: </a:t>
            </a:r>
            <a:r>
              <a:rPr lang="en-US" sz="1600" dirty="0">
                <a:latin typeface="Times New Roman" panose="02020603050405020304" pitchFamily="18" charset="0"/>
                <a:cs typeface="Times New Roman" panose="02020603050405020304" pitchFamily="18" charset="0"/>
              </a:rPr>
              <a:t>Automates administrative tasks such as appointment scheduling, reminder notifications, and patient record management, freeing up staff time for more critical tasks. Minimizes errors associated with manual appointment scheduling and record-keeping. </a:t>
            </a:r>
          </a:p>
          <a:p>
            <a:r>
              <a:rPr lang="en-US" sz="1600" b="1" dirty="0">
                <a:latin typeface="Times New Roman" panose="02020603050405020304" pitchFamily="18" charset="0"/>
                <a:cs typeface="Times New Roman" panose="02020603050405020304" pitchFamily="18" charset="0"/>
              </a:rPr>
              <a:t>Enhanced Patient Experience: </a:t>
            </a:r>
            <a:r>
              <a:rPr lang="en-US" sz="1600" dirty="0">
                <a:latin typeface="Times New Roman" panose="02020603050405020304" pitchFamily="18" charset="0"/>
                <a:cs typeface="Times New Roman" panose="02020603050405020304" pitchFamily="18" charset="0"/>
              </a:rPr>
              <a:t>Provides patients with greater control over their healthcare by allowing them to choose appointment times and healthcare providers based on their preferences. Sends automated reminders to patients, reducing the likelihood of missed appointments and improving adherence to treatment plans.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Data Analysis and Reporting: </a:t>
            </a:r>
            <a:r>
              <a:rPr lang="en-US" sz="1600" dirty="0">
                <a:latin typeface="Times New Roman" panose="02020603050405020304" pitchFamily="18" charset="0"/>
                <a:cs typeface="Times New Roman" panose="02020603050405020304" pitchFamily="18" charset="0"/>
              </a:rPr>
              <a:t>Generates valuable data on appointment volumes, patient demographics, and appointment outcomes, which can be used to optimize scheduling, resource allocation, and service delivery. Facilitates reporting and analysis of key performance indicators to identify areas for improvement and measure the effectiveness of healthcare services.</a:t>
            </a:r>
          </a:p>
        </p:txBody>
      </p:sp>
      <p:sp>
        <p:nvSpPr>
          <p:cNvPr id="3" name="Title 2">
            <a:extLst>
              <a:ext uri="{FF2B5EF4-FFF2-40B4-BE49-F238E27FC236}">
                <a16:creationId xmlns:a16="http://schemas.microsoft.com/office/drawing/2014/main" id="{B17C6EEC-4AA3-4B8C-9469-6CB4DF08F17A}"/>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1344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78BD60F-0F80-4ABF-8E19-030C0401A7B2}"/>
              </a:ext>
            </a:extLst>
          </p:cNvPr>
          <p:cNvSpPr>
            <a:spLocks noGrp="1"/>
          </p:cNvSpPr>
          <p:nvPr>
            <p:ph idx="1"/>
          </p:nvPr>
        </p:nvSpPr>
        <p:spPr>
          <a:xfrm>
            <a:off x="604433" y="1317812"/>
            <a:ext cx="10983131" cy="5217459"/>
          </a:xfrm>
        </p:spPr>
        <p:txBody>
          <a:bodyPr>
            <a:normAutofit/>
          </a:bodyPr>
          <a:lstStyle/>
          <a:p>
            <a:pPr>
              <a:buNone/>
            </a:pPr>
            <a:r>
              <a:rPr lang="en-US" sz="1600" b="1" dirty="0">
                <a:latin typeface="Times New Roman" panose="02020603050405020304" pitchFamily="18" charset="0"/>
                <a:cs typeface="Times New Roman" panose="02020603050405020304" pitchFamily="18" charset="0"/>
              </a:rPr>
              <a:t>Technological Barriers: </a:t>
            </a:r>
            <a:r>
              <a:rPr lang="en-US" sz="1600" dirty="0">
                <a:latin typeface="Times New Roman" panose="02020603050405020304" pitchFamily="18" charset="0"/>
                <a:cs typeface="Times New Roman" panose="02020603050405020304" pitchFamily="18" charset="0"/>
              </a:rPr>
              <a:t>Requires access to and familiarity with technology, which may be a barrier for some patients, particularly older adults or those with limited digital literacy. Reliance on internet connectivity and electronic devices may exclude patients who lack access to these resources.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Privacy and Security Concerns: </a:t>
            </a:r>
            <a:r>
              <a:rPr lang="en-US" sz="1600" dirty="0">
                <a:latin typeface="Times New Roman" panose="02020603050405020304" pitchFamily="18" charset="0"/>
                <a:cs typeface="Times New Roman" panose="02020603050405020304" pitchFamily="18" charset="0"/>
              </a:rPr>
              <a:t>Raises concerns about the privacy and security of patient information, particularly when using online booking platforms or storing electronic health records. Requires robust security measures and compliance with data protection regulations to safeguard patient confidentiality and prevent unauthorized access or data breaches. </a:t>
            </a:r>
          </a:p>
          <a:p>
            <a:r>
              <a:rPr lang="en-US" sz="1600" b="1" dirty="0">
                <a:latin typeface="Times New Roman" panose="02020603050405020304" pitchFamily="18" charset="0"/>
                <a:cs typeface="Times New Roman" panose="02020603050405020304" pitchFamily="18" charset="0"/>
              </a:rPr>
              <a:t>Risk of Overbooking: </a:t>
            </a:r>
            <a:r>
              <a:rPr lang="en-US" sz="1600" dirty="0">
                <a:latin typeface="Times New Roman" panose="02020603050405020304" pitchFamily="18" charset="0"/>
                <a:cs typeface="Times New Roman" panose="02020603050405020304" pitchFamily="18" charset="0"/>
              </a:rPr>
              <a:t>Possibility of overbooking appointments if the system does not accurately reflect doctor availability or if patients fail to attend scheduled appointments. May lead to longer wait times, patient dissatisfaction, and decreased quality of care if healthcare providers are overburdened with too many appointments. </a:t>
            </a:r>
          </a:p>
          <a:p>
            <a:r>
              <a:rPr lang="en-US" sz="1600" b="1" dirty="0">
                <a:latin typeface="Times New Roman" panose="02020603050405020304" pitchFamily="18" charset="0"/>
                <a:cs typeface="Times New Roman" panose="02020603050405020304" pitchFamily="18" charset="0"/>
              </a:rPr>
              <a:t>Dependency on System Reliability: </a:t>
            </a:r>
            <a:r>
              <a:rPr lang="en-US" sz="1600" dirty="0">
                <a:latin typeface="Times New Roman" panose="02020603050405020304" pitchFamily="18" charset="0"/>
                <a:cs typeface="Times New Roman" panose="02020603050405020304" pitchFamily="18" charset="0"/>
              </a:rPr>
              <a:t>Reliance on the availability and reliability of the appointment system, which may be subject to technical issues, software glitches, or downtime. System failures or outages could disrupt appointment scheduling, communication with patients, and access to healthcare services.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Loss of Personal Interaction: </a:t>
            </a:r>
            <a:r>
              <a:rPr lang="en-US" sz="1600" dirty="0">
                <a:latin typeface="Times New Roman" panose="02020603050405020304" pitchFamily="18" charset="0"/>
                <a:cs typeface="Times New Roman" panose="02020603050405020304" pitchFamily="18" charset="0"/>
              </a:rPr>
              <a:t>Decreases opportunities for personal interaction between patients and healthcare providers, particularly if appointments are conducted remotely via telemedicine platforms. Patients may miss the opportunity for in-person consultations, which can be important for building trust, rapport, and understanding between patients and doctors. Overall, while a doctor appointment system offers numerous benefits in terms of efficiency, accessibility, and patient experience, it is essential to address potential disadvantages such as technological barriers, privacy concerns, and system reliability to ensure successful implementation and adoption.</a:t>
            </a:r>
            <a:endParaRPr lang="en-IN" sz="1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17C6EEC-4AA3-4B8C-9469-6CB4DF08F17A}"/>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Disadvantages: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164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AB1AAF-3593-4312-840A-70CC67F2F846}"/>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Charts and Diagrams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m3d="http://schemas.microsoft.com/office/drawing/2017/model3d" Requires="am3d">
          <p:graphicFrame>
            <p:nvGraphicFramePr>
              <p:cNvPr id="5" name="3D Model 4" descr="Medical cross">
                <a:extLst>
                  <a:ext uri="{FF2B5EF4-FFF2-40B4-BE49-F238E27FC236}">
                    <a16:creationId xmlns:a16="http://schemas.microsoft.com/office/drawing/2014/main" id="{CDF043DB-3A9B-4127-B0ED-EDCF4E4EE268}"/>
                  </a:ext>
                </a:extLst>
              </p:cNvPr>
              <p:cNvGraphicFramePr>
                <a:graphicFrameLocks noChangeAspect="1"/>
              </p:cNvGraphicFramePr>
              <p:nvPr>
                <p:extLst>
                  <p:ext uri="{D42A27DB-BD31-4B8C-83A1-F6EECF244321}">
                    <p14:modId xmlns:p14="http://schemas.microsoft.com/office/powerpoint/2010/main" val="4251201895"/>
                  </p:ext>
                </p:extLst>
              </p:nvPr>
            </p:nvGraphicFramePr>
            <p:xfrm>
              <a:off x="1595809" y="1737053"/>
              <a:ext cx="3818779" cy="4352076"/>
            </p:xfrm>
            <a:graphic>
              <a:graphicData uri="http://schemas.microsoft.com/office/drawing/2017/model3d">
                <am3d:model3d r:embed="rId2">
                  <am3d:spPr>
                    <a:xfrm>
                      <a:off x="0" y="0"/>
                      <a:ext cx="3818779" cy="4352076"/>
                    </a:xfrm>
                    <a:prstGeom prst="rect">
                      <a:avLst/>
                    </a:prstGeom>
                  </am3d:spPr>
                  <am3d:camera>
                    <am3d:pos x="0" y="0" z="66645928"/>
                    <am3d:up dx="0" dy="36000000" dz="0"/>
                    <am3d:lookAt x="0" y="0" z="0"/>
                    <am3d:perspective fov="2700000"/>
                  </am3d:camera>
                  <am3d:trans>
                    <am3d:meterPerModelUnit n="5606561" d="1000000"/>
                    <am3d:preTrans dx="0" dy="-17928339" dz="0"/>
                    <am3d:scale>
                      <am3d:sx n="1000000" d="1000000"/>
                      <am3d:sy n="1000000" d="1000000"/>
                      <am3d:sz n="1000000" d="1000000"/>
                    </am3d:scale>
                    <am3d:rot ax="678203" ay="1941993" az="366461"/>
                    <am3d:postTrans dx="0" dy="0" dz="0"/>
                  </am3d:trans>
                  <am3d:raster rName="Office3DRenderer" rVer="16.0.8326">
                    <am3d:blip r:embed="rId3"/>
                  </am3d:raster>
                  <am3d:objViewport viewportSz="54186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Medical cross">
                <a:extLst>
                  <a:ext uri="{FF2B5EF4-FFF2-40B4-BE49-F238E27FC236}">
                    <a16:creationId xmlns:a16="http://schemas.microsoft.com/office/drawing/2014/main" id="{CDF043DB-3A9B-4127-B0ED-EDCF4E4EE268}"/>
                  </a:ext>
                </a:extLst>
              </p:cNvPr>
              <p:cNvPicPr>
                <a:picLocks noGrp="1" noRot="1" noChangeAspect="1" noMove="1" noResize="1" noEditPoints="1" noAdjustHandles="1" noChangeArrowheads="1" noChangeShapeType="1" noCrop="1"/>
              </p:cNvPicPr>
              <p:nvPr/>
            </p:nvPicPr>
            <p:blipFill>
              <a:blip r:embed="rId3"/>
              <a:stretch>
                <a:fillRect/>
              </a:stretch>
            </p:blipFill>
            <p:spPr>
              <a:xfrm>
                <a:off x="1595809" y="1737053"/>
                <a:ext cx="3818779" cy="435207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 name="3D Model 1" descr="Pharma Capsule Pill">
                <a:extLst>
                  <a:ext uri="{FF2B5EF4-FFF2-40B4-BE49-F238E27FC236}">
                    <a16:creationId xmlns:a16="http://schemas.microsoft.com/office/drawing/2014/main" id="{24EB6267-31C8-4CDD-A0AF-70F359456FC6}"/>
                  </a:ext>
                </a:extLst>
              </p:cNvPr>
              <p:cNvGraphicFramePr>
                <a:graphicFrameLocks noChangeAspect="1"/>
              </p:cNvGraphicFramePr>
              <p:nvPr>
                <p:extLst>
                  <p:ext uri="{D42A27DB-BD31-4B8C-83A1-F6EECF244321}">
                    <p14:modId xmlns:p14="http://schemas.microsoft.com/office/powerpoint/2010/main" val="2324481729"/>
                  </p:ext>
                </p:extLst>
              </p:nvPr>
            </p:nvGraphicFramePr>
            <p:xfrm>
              <a:off x="6096000" y="2413727"/>
              <a:ext cx="4771094" cy="2676003"/>
            </p:xfrm>
            <a:graphic>
              <a:graphicData uri="http://schemas.microsoft.com/office/drawing/2017/model3d">
                <am3d:model3d r:embed="rId4">
                  <am3d:spPr>
                    <a:xfrm>
                      <a:off x="0" y="0"/>
                      <a:ext cx="4771094" cy="2676003"/>
                    </a:xfrm>
                    <a:prstGeom prst="rect">
                      <a:avLst/>
                    </a:prstGeom>
                  </am3d:spPr>
                  <am3d:camera>
                    <am3d:pos x="0" y="0" z="49889499"/>
                    <am3d:up dx="0" dy="36000000" dz="0"/>
                    <am3d:lookAt x="0" y="0" z="0"/>
                    <am3d:perspective fov="2700000"/>
                  </am3d:camera>
                  <am3d:trans>
                    <am3d:meterPerModelUnit n="50000043" d="1000000"/>
                    <am3d:preTrans dx="11" dy="0" dz="0"/>
                    <am3d:scale>
                      <am3d:sx n="1000000" d="1000000"/>
                      <am3d:sy n="1000000" d="1000000"/>
                      <am3d:sz n="1000000" d="1000000"/>
                    </am3d:scale>
                    <am3d:rot ax="-3935175" ay="-620572" az="1294833"/>
                    <am3d:postTrans dx="0" dy="0" dz="0"/>
                  </am3d:trans>
                  <am3d:raster rName="Office3DRenderer" rVer="16.0.8326">
                    <am3d:blip r:embed="rId5"/>
                  </am3d:raster>
                  <am3d:objViewport viewportSz="541866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Pharma Capsule Pill">
                <a:extLst>
                  <a:ext uri="{FF2B5EF4-FFF2-40B4-BE49-F238E27FC236}">
                    <a16:creationId xmlns:a16="http://schemas.microsoft.com/office/drawing/2014/main" id="{24EB6267-31C8-4CDD-A0AF-70F359456FC6}"/>
                  </a:ext>
                </a:extLst>
              </p:cNvPr>
              <p:cNvPicPr>
                <a:picLocks noGrp="1" noRot="1" noChangeAspect="1" noMove="1" noResize="1" noEditPoints="1" noAdjustHandles="1" noChangeArrowheads="1" noChangeShapeType="1" noCrop="1"/>
              </p:cNvPicPr>
              <p:nvPr/>
            </p:nvPicPr>
            <p:blipFill>
              <a:blip r:embed="rId5"/>
              <a:stretch>
                <a:fillRect/>
              </a:stretch>
            </p:blipFill>
            <p:spPr>
              <a:xfrm>
                <a:off x="6096000" y="2413727"/>
                <a:ext cx="4771094" cy="2676003"/>
              </a:xfrm>
              <a:prstGeom prst="rect">
                <a:avLst/>
              </a:prstGeom>
            </p:spPr>
          </p:pic>
        </mc:Fallback>
      </mc:AlternateContent>
    </p:spTree>
    <p:extLst>
      <p:ext uri="{BB962C8B-B14F-4D97-AF65-F5344CB8AC3E}">
        <p14:creationId xmlns:p14="http://schemas.microsoft.com/office/powerpoint/2010/main" val="2967272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79A09-06A3-4B58-BFF5-9563D3ACFB84}"/>
              </a:ext>
            </a:extLst>
          </p:cNvPr>
          <p:cNvSpPr>
            <a:spLocks noGrp="1"/>
          </p:cNvSpPr>
          <p:nvPr>
            <p:ph idx="1"/>
          </p:nvPr>
        </p:nvSpPr>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In order to fully understand one’s project, it is very important that they come up with a SRS listing out their requirements, how are they going to meet it and how will they complete the project. It helps the team to save upon their time as they are able to comprehend how are going to go about the project. Doing this also enables the team to find out about the limitations and risks early on.</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781B3543-513D-4103-A1EF-3A57C8E7014F}"/>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SRS(System Requirement Specification)</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1507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A85621-23E6-4F2F-B4B3-C36F023984C1}"/>
              </a:ext>
            </a:extLst>
          </p:cNvPr>
          <p:cNvGraphicFramePr>
            <a:graphicFrameLocks noGrp="1"/>
          </p:cNvGraphicFramePr>
          <p:nvPr>
            <p:ph idx="1"/>
            <p:extLst>
              <p:ext uri="{D42A27DB-BD31-4B8C-83A1-F6EECF244321}">
                <p14:modId xmlns:p14="http://schemas.microsoft.com/office/powerpoint/2010/main" val="1352145032"/>
              </p:ext>
            </p:extLst>
          </p:nvPr>
        </p:nvGraphicFramePr>
        <p:xfrm>
          <a:off x="2294021" y="1957137"/>
          <a:ext cx="6882063" cy="3320717"/>
        </p:xfrm>
        <a:graphic>
          <a:graphicData uri="http://schemas.openxmlformats.org/drawingml/2006/table">
            <a:tbl>
              <a:tblPr firstRow="1" firstCol="1" bandRow="1">
                <a:tableStyleId>{5C22544A-7EE6-4342-B048-85BDC9FD1C3A}</a:tableStyleId>
              </a:tblPr>
              <a:tblGrid>
                <a:gridCol w="3637520">
                  <a:extLst>
                    <a:ext uri="{9D8B030D-6E8A-4147-A177-3AD203B41FA5}">
                      <a16:colId xmlns:a16="http://schemas.microsoft.com/office/drawing/2014/main" val="3484472976"/>
                    </a:ext>
                  </a:extLst>
                </a:gridCol>
                <a:gridCol w="3244543">
                  <a:extLst>
                    <a:ext uri="{9D8B030D-6E8A-4147-A177-3AD203B41FA5}">
                      <a16:colId xmlns:a16="http://schemas.microsoft.com/office/drawing/2014/main" val="2143996437"/>
                    </a:ext>
                  </a:extLst>
                </a:gridCol>
              </a:tblGrid>
              <a:tr h="523127">
                <a:tc>
                  <a:txBody>
                    <a:bodyPr/>
                    <a:lstStyle/>
                    <a:p>
                      <a:pPr>
                        <a:spcAft>
                          <a:spcPts val="0"/>
                        </a:spcAft>
                      </a:pPr>
                      <a:r>
                        <a:rPr lang="en-US" sz="1200" dirty="0">
                          <a:effectLst/>
                        </a:rPr>
                        <a:t>Hardware Components</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Specification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1404358"/>
                  </a:ext>
                </a:extLst>
              </a:tr>
              <a:tr h="523127">
                <a:tc>
                  <a:txBody>
                    <a:bodyPr/>
                    <a:lstStyle/>
                    <a:p>
                      <a:pPr>
                        <a:spcAft>
                          <a:spcPts val="0"/>
                        </a:spcAft>
                      </a:pPr>
                      <a:r>
                        <a:rPr lang="en-US" sz="1200">
                          <a:effectLst/>
                        </a:rPr>
                        <a:t>Processor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Intel core I3,/I5</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44141858"/>
                  </a:ext>
                </a:extLst>
              </a:tr>
              <a:tr h="500381">
                <a:tc>
                  <a:txBody>
                    <a:bodyPr/>
                    <a:lstStyle/>
                    <a:p>
                      <a:pPr>
                        <a:spcAft>
                          <a:spcPts val="0"/>
                        </a:spcAft>
                      </a:pPr>
                      <a:r>
                        <a:rPr lang="en-US" sz="1200">
                          <a:effectLst/>
                        </a:rPr>
                        <a:t>RAM</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4GB/8GB</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06837076"/>
                  </a:ext>
                </a:extLst>
              </a:tr>
              <a:tr h="523127">
                <a:tc>
                  <a:txBody>
                    <a:bodyPr/>
                    <a:lstStyle/>
                    <a:p>
                      <a:pPr>
                        <a:spcAft>
                          <a:spcPts val="0"/>
                        </a:spcAft>
                      </a:pPr>
                      <a:r>
                        <a:rPr lang="en-US" sz="1200">
                          <a:effectLst/>
                        </a:rPr>
                        <a:t>Hard disk</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512GB/1TB</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59862418"/>
                  </a:ext>
                </a:extLst>
              </a:tr>
              <a:tr h="727828">
                <a:tc>
                  <a:txBody>
                    <a:bodyPr/>
                    <a:lstStyle/>
                    <a:p>
                      <a:pPr>
                        <a:spcAft>
                          <a:spcPts val="0"/>
                        </a:spcAft>
                      </a:pPr>
                      <a:r>
                        <a:rPr lang="en-US" sz="1200">
                          <a:effectLst/>
                        </a:rPr>
                        <a:t>Monitor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15.6 colour monitor or advance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60960278"/>
                  </a:ext>
                </a:extLst>
              </a:tr>
              <a:tr h="523127">
                <a:tc>
                  <a:txBody>
                    <a:bodyPr/>
                    <a:lstStyle/>
                    <a:p>
                      <a:pPr>
                        <a:spcAft>
                          <a:spcPts val="0"/>
                        </a:spcAft>
                      </a:pPr>
                      <a:r>
                        <a:rPr lang="en-US" sz="1200">
                          <a:effectLst/>
                        </a:rPr>
                        <a:t>Device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dirty="0">
                          <a:effectLst/>
                        </a:rPr>
                        <a:t>Keyboard, Mouse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27892371"/>
                  </a:ext>
                </a:extLst>
              </a:tr>
            </a:tbl>
          </a:graphicData>
        </a:graphic>
      </p:graphicFrame>
      <p:sp>
        <p:nvSpPr>
          <p:cNvPr id="3" name="Title 2">
            <a:extLst>
              <a:ext uri="{FF2B5EF4-FFF2-40B4-BE49-F238E27FC236}">
                <a16:creationId xmlns:a16="http://schemas.microsoft.com/office/drawing/2014/main" id="{7E2DCF30-4916-422F-886A-9999B7EAFA5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Hardware Requirement </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948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2DCF30-4916-422F-886A-9999B7EAFA52}"/>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Software Requirement(For PHP)</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7341E2F8-EC44-4B4A-8EC3-B5C0A80EB40D}"/>
              </a:ext>
            </a:extLst>
          </p:cNvPr>
          <p:cNvGraphicFramePr>
            <a:graphicFrameLocks noGrp="1"/>
          </p:cNvGraphicFramePr>
          <p:nvPr>
            <p:ph idx="1"/>
            <p:extLst>
              <p:ext uri="{D42A27DB-BD31-4B8C-83A1-F6EECF244321}">
                <p14:modId xmlns:p14="http://schemas.microsoft.com/office/powerpoint/2010/main" val="1988640431"/>
              </p:ext>
            </p:extLst>
          </p:nvPr>
        </p:nvGraphicFramePr>
        <p:xfrm>
          <a:off x="2277979" y="1636294"/>
          <a:ext cx="6930189" cy="4186990"/>
        </p:xfrm>
        <a:graphic>
          <a:graphicData uri="http://schemas.openxmlformats.org/drawingml/2006/table">
            <a:tbl>
              <a:tblPr firstRow="1" firstCol="1" bandRow="1">
                <a:tableStyleId>{5C22544A-7EE6-4342-B048-85BDC9FD1C3A}</a:tableStyleId>
              </a:tblPr>
              <a:tblGrid>
                <a:gridCol w="3648563">
                  <a:extLst>
                    <a:ext uri="{9D8B030D-6E8A-4147-A177-3AD203B41FA5}">
                      <a16:colId xmlns:a16="http://schemas.microsoft.com/office/drawing/2014/main" val="1836612101"/>
                    </a:ext>
                  </a:extLst>
                </a:gridCol>
                <a:gridCol w="3281626">
                  <a:extLst>
                    <a:ext uri="{9D8B030D-6E8A-4147-A177-3AD203B41FA5}">
                      <a16:colId xmlns:a16="http://schemas.microsoft.com/office/drawing/2014/main" val="3893384198"/>
                    </a:ext>
                  </a:extLst>
                </a:gridCol>
              </a:tblGrid>
              <a:tr h="269829">
                <a:tc>
                  <a:txBody>
                    <a:bodyPr/>
                    <a:lstStyle/>
                    <a:p>
                      <a:pPr>
                        <a:lnSpc>
                          <a:spcPct val="115000"/>
                        </a:lnSpc>
                        <a:spcAft>
                          <a:spcPts val="0"/>
                        </a:spcAft>
                      </a:pPr>
                      <a:r>
                        <a:rPr lang="en-US" sz="1200">
                          <a:effectLst/>
                        </a:rPr>
                        <a:t>Name of component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Specification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38686538"/>
                  </a:ext>
                </a:extLst>
              </a:tr>
              <a:tr h="558202">
                <a:tc>
                  <a:txBody>
                    <a:bodyPr/>
                    <a:lstStyle/>
                    <a:p>
                      <a:pPr>
                        <a:lnSpc>
                          <a:spcPct val="115000"/>
                        </a:lnSpc>
                        <a:spcAft>
                          <a:spcPts val="0"/>
                        </a:spcAft>
                      </a:pPr>
                      <a:r>
                        <a:rPr lang="en-US" sz="1200">
                          <a:effectLst/>
                        </a:rPr>
                        <a:t>Operating System</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WindowsXP,windows10/ windows11</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55813647"/>
                  </a:ext>
                </a:extLst>
              </a:tr>
              <a:tr h="846575">
                <a:tc>
                  <a:txBody>
                    <a:bodyPr/>
                    <a:lstStyle/>
                    <a:p>
                      <a:pPr>
                        <a:lnSpc>
                          <a:spcPct val="115000"/>
                        </a:lnSpc>
                        <a:spcAft>
                          <a:spcPts val="0"/>
                        </a:spcAft>
                      </a:pPr>
                      <a:r>
                        <a:rPr lang="en-US" sz="1200">
                          <a:effectLst/>
                        </a:rPr>
                        <a:t>Control Panel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Xampp Control Panel/Wamp Control Panel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18469023"/>
                  </a:ext>
                </a:extLst>
              </a:tr>
              <a:tr h="1134949">
                <a:tc>
                  <a:txBody>
                    <a:bodyPr/>
                    <a:lstStyle/>
                    <a:p>
                      <a:pPr>
                        <a:lnSpc>
                          <a:spcPct val="115000"/>
                        </a:lnSpc>
                        <a:spcAft>
                          <a:spcPts val="0"/>
                        </a:spcAft>
                      </a:pPr>
                      <a:r>
                        <a:rPr lang="en-US" sz="1200">
                          <a:effectLst/>
                        </a:rPr>
                        <a:t>Software development kit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Google Chrome, Internet Explorer, Mozilla Firefox ( any appropriate or suitable browser)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25177855"/>
                  </a:ext>
                </a:extLst>
              </a:tr>
              <a:tr h="489329">
                <a:tc>
                  <a:txBody>
                    <a:bodyPr/>
                    <a:lstStyle/>
                    <a:p>
                      <a:pPr>
                        <a:lnSpc>
                          <a:spcPct val="115000"/>
                        </a:lnSpc>
                        <a:spcAft>
                          <a:spcPts val="0"/>
                        </a:spcAft>
                      </a:pPr>
                      <a:r>
                        <a:rPr lang="en-US" sz="1200">
                          <a:effectLst/>
                        </a:rPr>
                        <a:t>Programming Language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PHP, HTML, JAVASCRIPT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32645506"/>
                  </a:ext>
                </a:extLst>
              </a:tr>
              <a:tr h="398777">
                <a:tc>
                  <a:txBody>
                    <a:bodyPr/>
                    <a:lstStyle/>
                    <a:p>
                      <a:pPr>
                        <a:lnSpc>
                          <a:spcPct val="115000"/>
                        </a:lnSpc>
                        <a:spcAft>
                          <a:spcPts val="0"/>
                        </a:spcAft>
                      </a:pPr>
                      <a:r>
                        <a:rPr lang="en-US" sz="1200">
                          <a:effectLst/>
                        </a:rPr>
                        <a:t>Server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Apache Web Server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81689286"/>
                  </a:ext>
                </a:extLst>
              </a:tr>
              <a:tr h="489329">
                <a:tc>
                  <a:txBody>
                    <a:bodyPr/>
                    <a:lstStyle/>
                    <a:p>
                      <a:pPr>
                        <a:lnSpc>
                          <a:spcPct val="115000"/>
                        </a:lnSpc>
                        <a:spcAft>
                          <a:spcPts val="0"/>
                        </a:spcAft>
                      </a:pPr>
                      <a:r>
                        <a:rPr lang="en-US" sz="1200">
                          <a:effectLst/>
                        </a:rPr>
                        <a:t>Database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dirty="0">
                          <a:effectLst/>
                        </a:rPr>
                        <a:t>MySQL</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00441903"/>
                  </a:ext>
                </a:extLst>
              </a:tr>
            </a:tbl>
          </a:graphicData>
        </a:graphic>
      </p:graphicFrame>
    </p:spTree>
    <p:extLst>
      <p:ext uri="{BB962C8B-B14F-4D97-AF65-F5344CB8AC3E}">
        <p14:creationId xmlns:p14="http://schemas.microsoft.com/office/powerpoint/2010/main" val="1175792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A321F8-F1BC-457E-87EC-6B0A71C6A480}"/>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Line Chart</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13" name="Object 12">
            <a:extLst>
              <a:ext uri="{FF2B5EF4-FFF2-40B4-BE49-F238E27FC236}">
                <a16:creationId xmlns:a16="http://schemas.microsoft.com/office/drawing/2014/main" id="{AACE05B8-014E-498E-9E42-77CC3F06FED4}"/>
              </a:ext>
            </a:extLst>
          </p:cNvPr>
          <p:cNvGraphicFramePr>
            <a:graphicFrameLocks noChangeAspect="1"/>
          </p:cNvGraphicFramePr>
          <p:nvPr>
            <p:extLst>
              <p:ext uri="{D42A27DB-BD31-4B8C-83A1-F6EECF244321}">
                <p14:modId xmlns:p14="http://schemas.microsoft.com/office/powerpoint/2010/main" val="1531580775"/>
              </p:ext>
            </p:extLst>
          </p:nvPr>
        </p:nvGraphicFramePr>
        <p:xfrm>
          <a:off x="3159139" y="1275132"/>
          <a:ext cx="5294579" cy="4901832"/>
        </p:xfrm>
        <a:graphic>
          <a:graphicData uri="http://schemas.openxmlformats.org/presentationml/2006/ole">
            <mc:AlternateContent xmlns:mc="http://schemas.openxmlformats.org/markup-compatibility/2006">
              <mc:Choice xmlns:v="urn:schemas-microsoft-com:vml" Requires="v">
                <p:oleObj spid="_x0000_s3125" name="Document" r:id="rId3" imgW="5872480" imgH="6378972" progId="Word.Document.12">
                  <p:embed/>
                </p:oleObj>
              </mc:Choice>
              <mc:Fallback>
                <p:oleObj name="Document" r:id="rId3" imgW="5872480" imgH="6378972" progId="Word.Document.12">
                  <p:embed/>
                  <p:pic>
                    <p:nvPicPr>
                      <p:cNvPr id="0" name=""/>
                      <p:cNvPicPr/>
                      <p:nvPr/>
                    </p:nvPicPr>
                    <p:blipFill>
                      <a:blip r:embed="rId4"/>
                      <a:stretch>
                        <a:fillRect/>
                      </a:stretch>
                    </p:blipFill>
                    <p:spPr>
                      <a:xfrm>
                        <a:off x="3159139" y="1275132"/>
                        <a:ext cx="5294579" cy="4901832"/>
                      </a:xfrm>
                      <a:prstGeom prst="rect">
                        <a:avLst/>
                      </a:prstGeom>
                    </p:spPr>
                  </p:pic>
                </p:oleObj>
              </mc:Fallback>
            </mc:AlternateContent>
          </a:graphicData>
        </a:graphic>
      </p:graphicFrame>
    </p:spTree>
    <p:extLst>
      <p:ext uri="{BB962C8B-B14F-4D97-AF65-F5344CB8AC3E}">
        <p14:creationId xmlns:p14="http://schemas.microsoft.com/office/powerpoint/2010/main" val="310947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Entity-Relationship Diagram</a:t>
            </a:r>
          </a:p>
        </p:txBody>
      </p:sp>
      <p:pic>
        <p:nvPicPr>
          <p:cNvPr id="34" name="Picture 33">
            <a:extLst>
              <a:ext uri="{FF2B5EF4-FFF2-40B4-BE49-F238E27FC236}">
                <a16:creationId xmlns:a16="http://schemas.microsoft.com/office/drawing/2014/main" id="{8149D6BD-D5EB-4836-B84C-15DCC1A02572}"/>
              </a:ext>
            </a:extLst>
          </p:cNvPr>
          <p:cNvPicPr>
            <a:picLocks noChangeAspect="1"/>
          </p:cNvPicPr>
          <p:nvPr/>
        </p:nvPicPr>
        <p:blipFill rotWithShape="1">
          <a:blip r:embed="rId2">
            <a:extLst>
              <a:ext uri="{28A0092B-C50C-407E-A947-70E740481C1C}">
                <a14:useLocalDpi xmlns:a14="http://schemas.microsoft.com/office/drawing/2010/main" val="0"/>
              </a:ext>
            </a:extLst>
          </a:blip>
          <a:srcRect t="12027"/>
          <a:stretch/>
        </p:blipFill>
        <p:spPr>
          <a:xfrm>
            <a:off x="2623095" y="1196391"/>
            <a:ext cx="6945810" cy="5383703"/>
          </a:xfrm>
          <a:prstGeom prst="rect">
            <a:avLst/>
          </a:prstGeom>
        </p:spPr>
      </p:pic>
    </p:spTree>
    <p:extLst>
      <p:ext uri="{BB962C8B-B14F-4D97-AF65-F5344CB8AC3E}">
        <p14:creationId xmlns:p14="http://schemas.microsoft.com/office/powerpoint/2010/main" val="3855108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6BA17-1E2C-414F-9633-099051A7EC01}"/>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D35EF7A-CC72-4927-A056-5F0CB408D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6706" y="1282010"/>
            <a:ext cx="7315199" cy="5020680"/>
          </a:xfrm>
          <a:prstGeom prst="rect">
            <a:avLst/>
          </a:prstGeom>
        </p:spPr>
      </p:pic>
    </p:spTree>
    <p:extLst>
      <p:ext uri="{BB962C8B-B14F-4D97-AF65-F5344CB8AC3E}">
        <p14:creationId xmlns:p14="http://schemas.microsoft.com/office/powerpoint/2010/main" val="216237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35F3-7021-4455-A2D3-7B5043DA51C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 (Doctor)</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CB8AFD-7E01-42CD-A7D9-5DF5E2995101}"/>
              </a:ext>
            </a:extLst>
          </p:cNvPr>
          <p:cNvPicPr/>
          <p:nvPr/>
        </p:nvPicPr>
        <p:blipFill rotWithShape="1">
          <a:blip r:embed="rId2">
            <a:extLst>
              <a:ext uri="{28A0092B-C50C-407E-A947-70E740481C1C}">
                <a14:useLocalDpi xmlns:a14="http://schemas.microsoft.com/office/drawing/2010/main" val="0"/>
              </a:ext>
            </a:extLst>
          </a:blip>
          <a:srcRect l="-678" t="8039" r="1"/>
          <a:stretch/>
        </p:blipFill>
        <p:spPr bwMode="auto">
          <a:xfrm>
            <a:off x="3737811" y="1196391"/>
            <a:ext cx="4684829" cy="5477126"/>
          </a:xfrm>
          <a:prstGeom prst="rect">
            <a:avLst/>
          </a:prstGeom>
          <a:noFill/>
          <a:ln>
            <a:noFill/>
          </a:ln>
        </p:spPr>
      </p:pic>
    </p:spTree>
    <p:extLst>
      <p:ext uri="{BB962C8B-B14F-4D97-AF65-F5344CB8AC3E}">
        <p14:creationId xmlns:p14="http://schemas.microsoft.com/office/powerpoint/2010/main" val="386794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35F3-7021-4455-A2D3-7B5043DA51C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 (Admin)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B1DC057-6F6B-4C35-BB29-0EF37617409D}"/>
              </a:ext>
            </a:extLst>
          </p:cNvPr>
          <p:cNvPicPr/>
          <p:nvPr/>
        </p:nvPicPr>
        <p:blipFill rotWithShape="1">
          <a:blip r:embed="rId2">
            <a:extLst>
              <a:ext uri="{28A0092B-C50C-407E-A947-70E740481C1C}">
                <a14:useLocalDpi xmlns:a14="http://schemas.microsoft.com/office/drawing/2010/main" val="0"/>
              </a:ext>
            </a:extLst>
          </a:blip>
          <a:srcRect l="567" t="16869"/>
          <a:stretch/>
        </p:blipFill>
        <p:spPr bwMode="auto">
          <a:xfrm>
            <a:off x="3368842" y="1196391"/>
            <a:ext cx="5485598" cy="5332746"/>
          </a:xfrm>
          <a:prstGeom prst="rect">
            <a:avLst/>
          </a:prstGeom>
          <a:noFill/>
          <a:ln>
            <a:noFill/>
          </a:ln>
        </p:spPr>
      </p:pic>
    </p:spTree>
    <p:extLst>
      <p:ext uri="{BB962C8B-B14F-4D97-AF65-F5344CB8AC3E}">
        <p14:creationId xmlns:p14="http://schemas.microsoft.com/office/powerpoint/2010/main" val="3072933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35F3-7021-4455-A2D3-7B5043DA51C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 (Patient)</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0353D52-6357-4EAB-9E96-06ECA1E0FF7C}"/>
              </a:ext>
            </a:extLst>
          </p:cNvPr>
          <p:cNvPicPr/>
          <p:nvPr/>
        </p:nvPicPr>
        <p:blipFill rotWithShape="1">
          <a:blip r:embed="rId2">
            <a:extLst>
              <a:ext uri="{28A0092B-C50C-407E-A947-70E740481C1C}">
                <a14:useLocalDpi xmlns:a14="http://schemas.microsoft.com/office/drawing/2010/main" val="0"/>
              </a:ext>
            </a:extLst>
          </a:blip>
          <a:srcRect l="9783" t="6900"/>
          <a:stretch/>
        </p:blipFill>
        <p:spPr bwMode="auto">
          <a:xfrm>
            <a:off x="3673642" y="1196391"/>
            <a:ext cx="4715977" cy="5212981"/>
          </a:xfrm>
          <a:prstGeom prst="rect">
            <a:avLst/>
          </a:prstGeom>
          <a:noFill/>
          <a:ln>
            <a:noFill/>
          </a:ln>
        </p:spPr>
      </p:pic>
    </p:spTree>
    <p:extLst>
      <p:ext uri="{BB962C8B-B14F-4D97-AF65-F5344CB8AC3E}">
        <p14:creationId xmlns:p14="http://schemas.microsoft.com/office/powerpoint/2010/main" val="2739356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727A-D65E-4870-A54D-65844008E5C4}"/>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Flow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Content Placeholder 5">
            <a:extLst>
              <a:ext uri="{FF2B5EF4-FFF2-40B4-BE49-F238E27FC236}">
                <a16:creationId xmlns:a16="http://schemas.microsoft.com/office/drawing/2014/main" id="{CAC233FA-3946-4E3D-BC90-0C0F40C3E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5740" y="1308847"/>
            <a:ext cx="4680520" cy="5100525"/>
          </a:xfrm>
          <a:prstGeom prst="rect">
            <a:avLst/>
          </a:prstGeom>
        </p:spPr>
      </p:pic>
    </p:spTree>
    <p:extLst>
      <p:ext uri="{BB962C8B-B14F-4D97-AF65-F5344CB8AC3E}">
        <p14:creationId xmlns:p14="http://schemas.microsoft.com/office/powerpoint/2010/main" val="1909178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Content Placeholder 3">
            <a:extLst>
              <a:ext uri="{FF2B5EF4-FFF2-40B4-BE49-F238E27FC236}">
                <a16:creationId xmlns:a16="http://schemas.microsoft.com/office/drawing/2014/main" id="{A635AE5B-E752-4036-AFB0-5051009072CD}"/>
              </a:ext>
            </a:extLst>
          </p:cNvPr>
          <p:cNvGraphicFramePr>
            <a:graphicFrameLocks/>
          </p:cNvGraphicFramePr>
          <p:nvPr>
            <p:extLst>
              <p:ext uri="{D42A27DB-BD31-4B8C-83A1-F6EECF244321}">
                <p14:modId xmlns:p14="http://schemas.microsoft.com/office/powerpoint/2010/main" val="3051577705"/>
              </p:ext>
            </p:extLst>
          </p:nvPr>
        </p:nvGraphicFramePr>
        <p:xfrm>
          <a:off x="1577788" y="1684948"/>
          <a:ext cx="8606117" cy="3924835"/>
        </p:xfrm>
        <a:graphic>
          <a:graphicData uri="http://schemas.openxmlformats.org/drawingml/2006/table">
            <a:tbl>
              <a:tblPr bandRow="1">
                <a:tableStyleId>{5C22544A-7EE6-4342-B048-85BDC9FD1C3A}</a:tableStyleId>
              </a:tblPr>
              <a:tblGrid>
                <a:gridCol w="792095">
                  <a:extLst>
                    <a:ext uri="{9D8B030D-6E8A-4147-A177-3AD203B41FA5}">
                      <a16:colId xmlns:a16="http://schemas.microsoft.com/office/drawing/2014/main" val="20000"/>
                    </a:ext>
                  </a:extLst>
                </a:gridCol>
                <a:gridCol w="1072057">
                  <a:extLst>
                    <a:ext uri="{9D8B030D-6E8A-4147-A177-3AD203B41FA5}">
                      <a16:colId xmlns:a16="http://schemas.microsoft.com/office/drawing/2014/main" val="20001"/>
                    </a:ext>
                  </a:extLst>
                </a:gridCol>
                <a:gridCol w="1108871">
                  <a:extLst>
                    <a:ext uri="{9D8B030D-6E8A-4147-A177-3AD203B41FA5}">
                      <a16:colId xmlns:a16="http://schemas.microsoft.com/office/drawing/2014/main" val="20002"/>
                    </a:ext>
                  </a:extLst>
                </a:gridCol>
                <a:gridCol w="1239164">
                  <a:extLst>
                    <a:ext uri="{9D8B030D-6E8A-4147-A177-3AD203B41FA5}">
                      <a16:colId xmlns:a16="http://schemas.microsoft.com/office/drawing/2014/main" val="20003"/>
                    </a:ext>
                  </a:extLst>
                </a:gridCol>
                <a:gridCol w="1339270">
                  <a:extLst>
                    <a:ext uri="{9D8B030D-6E8A-4147-A177-3AD203B41FA5}">
                      <a16:colId xmlns:a16="http://schemas.microsoft.com/office/drawing/2014/main" val="20004"/>
                    </a:ext>
                  </a:extLst>
                </a:gridCol>
                <a:gridCol w="1405155">
                  <a:extLst>
                    <a:ext uri="{9D8B030D-6E8A-4147-A177-3AD203B41FA5}">
                      <a16:colId xmlns:a16="http://schemas.microsoft.com/office/drawing/2014/main" val="20005"/>
                    </a:ext>
                  </a:extLst>
                </a:gridCol>
                <a:gridCol w="1649505">
                  <a:extLst>
                    <a:ext uri="{9D8B030D-6E8A-4147-A177-3AD203B41FA5}">
                      <a16:colId xmlns:a16="http://schemas.microsoft.com/office/drawing/2014/main" val="20006"/>
                    </a:ext>
                  </a:extLst>
                </a:gridCol>
              </a:tblGrid>
              <a:tr h="779091">
                <a:tc>
                  <a:txBody>
                    <a:bodyPr/>
                    <a:lstStyle/>
                    <a:p>
                      <a:pPr algn="ctr">
                        <a:lnSpc>
                          <a:spcPct val="150000"/>
                        </a:lnSpc>
                      </a:pPr>
                      <a:r>
                        <a:rPr lang="en-US" sz="1200">
                          <a:effectLst/>
                        </a:rPr>
                        <a:t>Sr. No.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Field Name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Data Type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Size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Constraint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Description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Example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1318072">
                <a:tc>
                  <a:txBody>
                    <a:bodyPr/>
                    <a:lstStyle/>
                    <a:p>
                      <a:pPr>
                        <a:lnSpc>
                          <a:spcPct val="150000"/>
                        </a:lnSpc>
                      </a:pPr>
                      <a:r>
                        <a:rPr lang="en-US" sz="1200">
                          <a:effectLst/>
                        </a:rPr>
                        <a:t>1</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Doctor -id</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Int</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11</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Primary key, auto-increment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Unique identifier for each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779091">
                <a:tc>
                  <a:txBody>
                    <a:bodyPr/>
                    <a:lstStyle/>
                    <a:p>
                      <a:pPr>
                        <a:lnSpc>
                          <a:spcPct val="150000"/>
                        </a:lnSpc>
                      </a:pPr>
                      <a:r>
                        <a:rPr lang="en-US" sz="1200">
                          <a:effectLst/>
                        </a:rPr>
                        <a:t>2</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Name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Varchar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Not null</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Name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Dr.mehta</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1048581">
                <a:tc>
                  <a:txBody>
                    <a:bodyPr/>
                    <a:lstStyle/>
                    <a:p>
                      <a:pPr>
                        <a:lnSpc>
                          <a:spcPct val="150000"/>
                        </a:lnSpc>
                      </a:pPr>
                      <a:r>
                        <a:rPr lang="en-US" sz="1200">
                          <a:effectLst/>
                        </a:rPr>
                        <a:t>3</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email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Varchar</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Null</a:t>
                      </a:r>
                      <a:endParaRPr lang="en-IN" sz="1000" dirty="0">
                        <a:effectLst/>
                      </a:endParaRPr>
                    </a:p>
                    <a:p>
                      <a:pPr>
                        <a:lnSpc>
                          <a:spcPct val="150000"/>
                        </a:lnSpc>
                      </a:pPr>
                      <a:r>
                        <a:rPr lang="en-US" sz="1200" dirty="0">
                          <a:effectLst/>
                        </a:rPr>
                        <a:t>unique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Email address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drmehta@gmail.com</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1314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5F7F7E76-233E-4C6B-A36A-B0B0E6D372DA}"/>
              </a:ext>
            </a:extLst>
          </p:cNvPr>
          <p:cNvGraphicFramePr>
            <a:graphicFrameLocks/>
          </p:cNvGraphicFramePr>
          <p:nvPr>
            <p:extLst>
              <p:ext uri="{D42A27DB-BD31-4B8C-83A1-F6EECF244321}">
                <p14:modId xmlns:p14="http://schemas.microsoft.com/office/powerpoint/2010/main" val="1566293878"/>
              </p:ext>
            </p:extLst>
          </p:nvPr>
        </p:nvGraphicFramePr>
        <p:xfrm>
          <a:off x="1904510" y="2323235"/>
          <a:ext cx="7463607" cy="1527812"/>
        </p:xfrm>
        <a:graphic>
          <a:graphicData uri="http://schemas.openxmlformats.org/drawingml/2006/table">
            <a:tbl>
              <a:tblPr bandRow="1">
                <a:tableStyleId>{5C22544A-7EE6-4342-B048-85BDC9FD1C3A}</a:tableStyleId>
              </a:tblPr>
              <a:tblGrid>
                <a:gridCol w="591733">
                  <a:extLst>
                    <a:ext uri="{9D8B030D-6E8A-4147-A177-3AD203B41FA5}">
                      <a16:colId xmlns:a16="http://schemas.microsoft.com/office/drawing/2014/main" val="20000"/>
                    </a:ext>
                  </a:extLst>
                </a:gridCol>
                <a:gridCol w="982063">
                  <a:extLst>
                    <a:ext uri="{9D8B030D-6E8A-4147-A177-3AD203B41FA5}">
                      <a16:colId xmlns:a16="http://schemas.microsoft.com/office/drawing/2014/main" val="20001"/>
                    </a:ext>
                  </a:extLst>
                </a:gridCol>
                <a:gridCol w="690282">
                  <a:extLst>
                    <a:ext uri="{9D8B030D-6E8A-4147-A177-3AD203B41FA5}">
                      <a16:colId xmlns:a16="http://schemas.microsoft.com/office/drawing/2014/main" val="20002"/>
                    </a:ext>
                  </a:extLst>
                </a:gridCol>
                <a:gridCol w="882760">
                  <a:extLst>
                    <a:ext uri="{9D8B030D-6E8A-4147-A177-3AD203B41FA5}">
                      <a16:colId xmlns:a16="http://schemas.microsoft.com/office/drawing/2014/main" val="20003"/>
                    </a:ext>
                  </a:extLst>
                </a:gridCol>
                <a:gridCol w="999824">
                  <a:extLst>
                    <a:ext uri="{9D8B030D-6E8A-4147-A177-3AD203B41FA5}">
                      <a16:colId xmlns:a16="http://schemas.microsoft.com/office/drawing/2014/main" val="20004"/>
                    </a:ext>
                  </a:extLst>
                </a:gridCol>
                <a:gridCol w="1622616">
                  <a:extLst>
                    <a:ext uri="{9D8B030D-6E8A-4147-A177-3AD203B41FA5}">
                      <a16:colId xmlns:a16="http://schemas.microsoft.com/office/drawing/2014/main" val="20005"/>
                    </a:ext>
                  </a:extLst>
                </a:gridCol>
                <a:gridCol w="1694329">
                  <a:extLst>
                    <a:ext uri="{9D8B030D-6E8A-4147-A177-3AD203B41FA5}">
                      <a16:colId xmlns:a16="http://schemas.microsoft.com/office/drawing/2014/main" val="20006"/>
                    </a:ext>
                  </a:extLst>
                </a:gridCol>
              </a:tblGrid>
              <a:tr h="0">
                <a:tc>
                  <a:txBody>
                    <a:bodyPr/>
                    <a:lstStyle/>
                    <a:p>
                      <a:pPr algn="ctr">
                        <a:lnSpc>
                          <a:spcPct val="150000"/>
                        </a:lnSpc>
                      </a:pPr>
                      <a:r>
                        <a:rPr lang="en-US" sz="1200">
                          <a:effectLst/>
                        </a:rPr>
                        <a:t>Sr. No.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Field Name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Data Type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Size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Constraint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Description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Example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0">
                <a:tc>
                  <a:txBody>
                    <a:bodyPr/>
                    <a:lstStyle/>
                    <a:p>
                      <a:pPr>
                        <a:lnSpc>
                          <a:spcPct val="150000"/>
                        </a:lnSpc>
                      </a:pPr>
                      <a:r>
                        <a:rPr lang="en-US" sz="1200" dirty="0">
                          <a:effectLst/>
                        </a:rPr>
                        <a:t>1</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Phone number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Varchar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20</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null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Phone number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0">
                <a:tc>
                  <a:txBody>
                    <a:bodyPr/>
                    <a:lstStyle/>
                    <a:p>
                      <a:pPr>
                        <a:lnSpc>
                          <a:spcPct val="150000"/>
                        </a:lnSpc>
                      </a:pPr>
                      <a:r>
                        <a:rPr lang="en-US" sz="1200" dirty="0">
                          <a:effectLst/>
                        </a:rPr>
                        <a:t> </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0">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 </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796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 Level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752736-935F-4E9C-963B-0DEBCDA9A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4487" y="1317811"/>
            <a:ext cx="8963025" cy="5002306"/>
          </a:xfrm>
          <a:prstGeom prst="rect">
            <a:avLst/>
          </a:prstGeom>
        </p:spPr>
      </p:pic>
    </p:spTree>
    <p:extLst>
      <p:ext uri="{BB962C8B-B14F-4D97-AF65-F5344CB8AC3E}">
        <p14:creationId xmlns:p14="http://schemas.microsoft.com/office/powerpoint/2010/main" val="390747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Level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DE5FB8A-993B-4EF4-9E74-85F913445ABD}"/>
              </a:ext>
            </a:extLst>
          </p:cNvPr>
          <p:cNvSpPr txBox="1"/>
          <p:nvPr/>
        </p:nvSpPr>
        <p:spPr>
          <a:xfrm>
            <a:off x="1335741" y="1371600"/>
            <a:ext cx="10345271" cy="503777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C467B200-F129-4CBC-99E0-6AA87A554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5741" y="1196391"/>
            <a:ext cx="8923973" cy="5336629"/>
          </a:xfrm>
          <a:prstGeom prst="rect">
            <a:avLst/>
          </a:prstGeom>
        </p:spPr>
      </p:pic>
    </p:spTree>
    <p:extLst>
      <p:ext uri="{BB962C8B-B14F-4D97-AF65-F5344CB8AC3E}">
        <p14:creationId xmlns:p14="http://schemas.microsoft.com/office/powerpoint/2010/main" val="728563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Level 2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98C91AA-FCE8-4A8F-A0D1-6998CC7D8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5438" y="1196391"/>
            <a:ext cx="9161124" cy="5472424"/>
          </a:xfrm>
          <a:prstGeom prst="rect">
            <a:avLst/>
          </a:prstGeom>
        </p:spPr>
      </p:pic>
    </p:spTree>
    <p:extLst>
      <p:ext uri="{BB962C8B-B14F-4D97-AF65-F5344CB8AC3E}">
        <p14:creationId xmlns:p14="http://schemas.microsoft.com/office/powerpoint/2010/main" val="4119509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1B6581-3A84-43F7-8E0E-4C1A35245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0" y="1494846"/>
            <a:ext cx="4907279" cy="5057029"/>
          </a:xfrm>
          <a:prstGeom prst="rect">
            <a:avLst/>
          </a:prstGeom>
        </p:spPr>
      </p:pic>
    </p:spTree>
    <p:extLst>
      <p:ext uri="{BB962C8B-B14F-4D97-AF65-F5344CB8AC3E}">
        <p14:creationId xmlns:p14="http://schemas.microsoft.com/office/powerpoint/2010/main" val="3019788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58914FD-A645-41C1-9986-E5E791513C3B}"/>
              </a:ext>
            </a:extLst>
          </p:cNvPr>
          <p:cNvSpPr>
            <a:spLocks noGrp="1"/>
          </p:cNvSpPr>
          <p:nvPr>
            <p:ph idx="1"/>
          </p:nvPr>
        </p:nvSpPr>
        <p:spPr>
          <a:xfrm>
            <a:off x="519953" y="1416424"/>
            <a:ext cx="11067611" cy="4760539"/>
          </a:xfrm>
        </p:spPr>
        <p:txBody>
          <a:bodyPr>
            <a:noAutofit/>
          </a:bodyPr>
          <a:lstStyle/>
          <a:p>
            <a:pPr marL="285750" indent="-285750">
              <a:lnSpc>
                <a:spcPct val="150000"/>
              </a:lnSpc>
              <a:buSzPct val="30000"/>
            </a:pPr>
            <a:r>
              <a:rPr lang="en-US" sz="1400" dirty="0">
                <a:latin typeface="Times New Roman" panose="02020603050405020304" pitchFamily="18" charset="0"/>
                <a:cs typeface="Times New Roman" panose="02020603050405020304" pitchFamily="18" charset="0"/>
              </a:rPr>
              <a:t>In conclusion, a Doctor Appointment Management System developed using PHP can be an efficient solution for managing patient-doctor appointments. </a:t>
            </a:r>
            <a:endParaRPr lang="en-IN" sz="1400" dirty="0">
              <a:latin typeface="Times New Roman" panose="02020603050405020304" pitchFamily="18" charset="0"/>
              <a:cs typeface="Times New Roman" panose="02020603050405020304" pitchFamily="18" charset="0"/>
            </a:endParaRPr>
          </a:p>
          <a:p>
            <a:pPr marL="285750" indent="-285750">
              <a:lnSpc>
                <a:spcPct val="150000"/>
              </a:lnSpc>
              <a:buSzPct val="30000"/>
            </a:pPr>
            <a:r>
              <a:rPr lang="en-US" sz="1400" dirty="0">
                <a:latin typeface="Times New Roman" panose="02020603050405020304" pitchFamily="18" charset="0"/>
                <a:cs typeface="Times New Roman" panose="02020603050405020304" pitchFamily="18" charset="0"/>
              </a:rPr>
              <a:t>With the help of this system, patients can easily book appointments with doctors, manage their appointments, and receive appointment reminders, while doctors can manage their appointment schedules and communicate with patients. </a:t>
            </a:r>
            <a:endParaRPr lang="en-IN" sz="1400" dirty="0">
              <a:latin typeface="Times New Roman" panose="02020603050405020304" pitchFamily="18" charset="0"/>
              <a:cs typeface="Times New Roman" panose="02020603050405020304" pitchFamily="18" charset="0"/>
            </a:endParaRPr>
          </a:p>
          <a:p>
            <a:pPr marL="285750" indent="-285750">
              <a:lnSpc>
                <a:spcPct val="150000"/>
              </a:lnSpc>
              <a:buSzPct val="30000"/>
            </a:pPr>
            <a:r>
              <a:rPr lang="en-US" sz="1400" dirty="0">
                <a:latin typeface="Times New Roman" panose="02020603050405020304" pitchFamily="18" charset="0"/>
                <a:cs typeface="Times New Roman" panose="02020603050405020304" pitchFamily="18" charset="0"/>
              </a:rPr>
              <a:t>The system can also help to reduce administrative workload and increase the efficiency of the appointment booking process.</a:t>
            </a:r>
            <a:endParaRPr lang="en-IN" sz="1400" dirty="0">
              <a:latin typeface="Times New Roman" panose="02020603050405020304" pitchFamily="18" charset="0"/>
              <a:cs typeface="Times New Roman" panose="02020603050405020304" pitchFamily="18" charset="0"/>
            </a:endParaRPr>
          </a:p>
          <a:p>
            <a:pPr marL="285750" indent="-285750">
              <a:lnSpc>
                <a:spcPct val="150000"/>
              </a:lnSpc>
              <a:buSzPct val="30000"/>
            </a:pPr>
            <a:r>
              <a:rPr lang="en-US" sz="1400" dirty="0">
                <a:latin typeface="Times New Roman" panose="02020603050405020304" pitchFamily="18" charset="0"/>
                <a:cs typeface="Times New Roman" panose="02020603050405020304" pitchFamily="18" charset="0"/>
              </a:rPr>
              <a:t>PHP is a popular and widely used web development language, which makes it a suitable choice for developing the Doctor Appointment Management System. It offers a wide range of features and tools that can be used to create a user-friendly and efficient system.</a:t>
            </a:r>
            <a:endParaRPr lang="en-IN" sz="1400" dirty="0">
              <a:latin typeface="Times New Roman" panose="02020603050405020304" pitchFamily="18" charset="0"/>
              <a:cs typeface="Times New Roman" panose="02020603050405020304" pitchFamily="18" charset="0"/>
            </a:endParaRPr>
          </a:p>
          <a:p>
            <a:pPr marL="285750" indent="-285750">
              <a:lnSpc>
                <a:spcPct val="150000"/>
              </a:lnSpc>
              <a:buSzPct val="30000"/>
            </a:pPr>
            <a:r>
              <a:rPr lang="en-US" sz="1400" dirty="0">
                <a:latin typeface="Times New Roman" panose="02020603050405020304" pitchFamily="18" charset="0"/>
                <a:cs typeface="Times New Roman" panose="02020603050405020304" pitchFamily="18" charset="0"/>
              </a:rPr>
              <a:t>Overall, a Doctor Appointment Management System developed using PHP can benefit both patients and doctors by providing an easy-to-use and efficient system for booking appointments and managing schedules.</a:t>
            </a:r>
            <a:endParaRPr lang="en-IN" sz="14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401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C933E44-F7F0-4E00-AFF4-6D908746E3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5000" y="1264024"/>
            <a:ext cx="7146092" cy="531607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03505248"/>
      </p:ext>
    </p:extLst>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M16411177_Bring Your Presentations_win32_mlw - v3" id="{DE0A717D-0B12-4D44-8613-A03A4CD6D7EE}" vid="{30B64ACD-7D47-478C-8DC1-E97D1D0752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480f6609812271f56e53f2aff71704">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b48d77c16982ba2890c3fe2b4c067b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20A972-1CDD-4EF3-89C2-EBD9E5E1FD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90717D-CB20-4004-8DD0-01756D9D039A}">
  <ds:schemaRefs>
    <ds:schemaRef ds:uri="http://schemas.microsoft.com/office/2006/metadata/properties"/>
    <ds:schemaRef ds:uri="http://purl.org/dc/terms/"/>
    <ds:schemaRef ds:uri="16c05727-aa75-4e4a-9b5f-8a80a1165891"/>
    <ds:schemaRef ds:uri="http://www.w3.org/XML/1998/namespace"/>
    <ds:schemaRef ds:uri="71af3243-3dd4-4a8d-8c0d-dd76da1f02a5"/>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18A56FF6-92BD-46DE-9059-01B9F08E88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0</TotalTime>
  <Words>1352</Words>
  <Application>Microsoft Office PowerPoint</Application>
  <PresentationFormat>Widescreen</PresentationFormat>
  <Paragraphs>136</Paragraphs>
  <Slides>24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Arial</vt:lpstr>
      <vt:lpstr>Calibri</vt:lpstr>
      <vt:lpstr>Segoe UI</vt:lpstr>
      <vt:lpstr>Segoe UI Light</vt:lpstr>
      <vt:lpstr>Times New Roman</vt:lpstr>
      <vt:lpstr>Get Started with 3D</vt:lpstr>
      <vt:lpstr>Microsoft Word Document</vt:lpstr>
      <vt:lpstr>Doctor Appointment System</vt:lpstr>
      <vt:lpstr>INTRODUCTION:</vt:lpstr>
      <vt:lpstr>Requirement Gathering and analysis</vt:lpstr>
      <vt:lpstr>Advantages:</vt:lpstr>
      <vt:lpstr>Disadvantages:</vt:lpstr>
      <vt:lpstr>Flow Charts and Diagrams</vt:lpstr>
      <vt:lpstr>SRS(System Requirement Specification)</vt:lpstr>
      <vt:lpstr>Hardware Requirement </vt:lpstr>
      <vt:lpstr>Software Requirement(For PHP)</vt:lpstr>
      <vt:lpstr>Time Line Chart</vt:lpstr>
      <vt:lpstr>Entity-Relationship Diagram</vt:lpstr>
      <vt:lpstr>Sequence Diagram.</vt:lpstr>
      <vt:lpstr>Use Case Diagram (Doctor)</vt:lpstr>
      <vt:lpstr>Use Case Diagram (Admin)</vt:lpstr>
      <vt:lpstr>Use Case Diagram (Patient)</vt:lpstr>
      <vt:lpstr>System Flow Diagram</vt:lpstr>
      <vt:lpstr>Data Dictionary</vt:lpstr>
      <vt:lpstr>Data Dictionary</vt:lpstr>
      <vt:lpstr>0 Level DFD</vt:lpstr>
      <vt:lpstr>1 Level DFD</vt:lpstr>
      <vt:lpstr>Level 2 DFD</vt:lpstr>
      <vt:lpstr>Activity Diagram</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2024-03-08T02:35:23Z</dcterms:created>
  <dcterms:modified xsi:type="dcterms:W3CDTF">2024-05-12T10:14:56Z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